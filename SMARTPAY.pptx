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5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2BE00-EAAF-424B-882A-A77A2501218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9804B-BC48-4EB3-858A-32997FDBC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375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604D0-D822-5BD8-12CC-8FEA8E474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22283-0843-4ED0-C21B-533221BD0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043F9-6765-858C-271B-7CA9B73E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AC956-403E-499D-B342-CFC3DDEDE1C6}" type="datetime1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E7527-7092-28CB-5817-7EC070C3E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D1110-491B-4EC5-181E-BF2964780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03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C7CD-5F5A-F5EA-27DC-68F9BBA28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98E30-1D3A-D4B8-92FF-74D9F4864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4754D-AEE7-AF53-D824-6C2D76B3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9111E-D450-445A-99BD-D9BC745B817D}" type="datetime1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F011F-F75E-6418-64E1-D6BB88321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9637F-1347-4418-D6FE-FD8D7D7A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75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62766-CDA8-4DF1-DE67-5AA6D384C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A16DB-78EF-9FB9-3A1D-F80F7E415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740-55A6-C8F3-BEDF-FA5197AA1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15228-0DC5-47CF-935C-EBA22C9881CC}" type="datetime1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0EB21-BD1D-E4D9-842E-B622C10B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19A2F-344C-682A-E54C-6D81F4E3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91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2897-AE4A-19CD-8C17-DA43B8E6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FC5F5-ABE7-9C41-9A22-ABAF2FE28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AE0A5F-4046-E1BD-7B38-C19679740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05198-B739-2603-7F5A-A859C1179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1B2F-19C0-40FD-A10C-5FD3AC3B5CF2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8E03FA-2360-491A-962B-D46EB2151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4E017-1F9F-9F45-04F4-CB308160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15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2B61D-2FAF-EB9B-3BF7-F01F8D23F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F3FF9-FD0D-3805-55ED-D4FCDE101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53543-6176-70BD-3778-487C08F33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DF2F3A-08AF-2801-9A89-38A0EDAAD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0D417B-0D14-EE38-C346-7A3AA0769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8DE382-610B-9A00-B840-807096E7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E8D4B-1124-4921-8807-91FD2DBB3520}" type="datetime1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3708EC-3593-1E9B-3CAA-0E6BA46F9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1BEF1-E878-8A42-654D-54765EDBD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43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4114-5F6C-9D76-1192-BDB6182C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72B4E-442E-4785-D347-309689DB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99C8A-8F89-4E4D-B8E7-F1F430B8187E}" type="datetime1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0834F4-ACD8-A343-7476-6CEA893A5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60796-B7B3-8F8E-4BA4-E8A398500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683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DFC347-5827-E139-8135-179EA9804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EF3D1-E8A1-43C2-A303-493963DD388A}" type="datetime1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8D198-8474-72B6-F583-9448057C4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62673-FBA1-26AA-12A4-50A0384A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825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8B0F-BA41-7FF9-D29E-BF1D42DC0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16A44-AA2C-E071-A1F4-283CD7A4C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2858C-13AB-B0D0-737E-E63D8CBE5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AA004-F13D-B088-9E8E-52DA7687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2582-72CA-4D35-AA1C-DF74A3709386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444DC-C376-79A2-FC98-EFDA99EF4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E94F4-A444-48F0-522E-C06739B8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494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F66BE-618E-E6FC-B15E-5DC1230FF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0CCB7-2012-3B93-7835-6581DD609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405A8-7D93-0E61-1ED0-2A29EB4DF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33ECB-B39E-75F2-83F5-48C244D0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AF841-E7FF-4692-8B23-A479D988A969}" type="datetime1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5AFE0-A053-6420-DFFA-48BA7D4AC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C374E-E2E8-C2C1-6E8A-9AEFEBA3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292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49D8-FD41-ADF3-A689-B5072039B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C9EB1-D48F-17B6-95A8-8636E1E91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8EA8D-6370-0550-621F-BBE90BD80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179A0-BF23-4ABC-8EBC-750AFCA92FDE}" type="datetime1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84D14-8025-932B-32B9-2145046F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425CA-FD27-9DBB-5F3B-64B222B1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997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D397-D60A-BECA-BA48-238E7CF108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57C28-C03E-54D5-EBE9-4D0FBC842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356F7-9CA9-0A94-A34E-67DA3CD4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7630-CE8E-4AE8-9799-434349EE3B79}" type="datetime1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62EEC-792D-DA26-546E-BC87372E8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CC7DA-FDD2-527A-21A6-18C5445D8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474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CD4A4D-50C7-20CB-887D-A1AB6644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028D9-ED83-F4AC-6C3D-438582370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E54C7-C188-0520-7FE2-59C797291A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D6C20-57A3-4740-B8BE-8D5F99DE1BF6}" type="datetime1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64C7B-1C94-D7C6-0AA8-316D74479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3BB36-0438-7E6A-8F2A-8307D4A34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AFDF0-24FC-4EEF-A6D0-BC169B1059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31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transaction?page=2" TargetMode="External"/><Relationship Id="rId7" Type="http://schemas.openxmlformats.org/officeDocument/2006/relationships/image" Target="../media/image5.svg"/><Relationship Id="rId2" Type="http://schemas.openxmlformats.org/officeDocument/2006/relationships/image" Target="../media/image1.1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r%C3%A9union-coop%C3%A9ration-personnels-1015591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plain%20background" TargetMode="External"/><Relationship Id="rId2" Type="http://schemas.openxmlformats.org/officeDocument/2006/relationships/image" Target="../media/image7.1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desktop%20wallpaper%20design%20resource%20background%20downloadable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desktop%20wallpaper%20design%20resource%20background%20downloadable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desktop%20wallpaper%20design%20resource%20background%20downloadable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desktop%20wallpaper%20design%20resource%20background%20downloadable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desktop%20wallpaper%20design%20resource%20background%20downloadable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desktop%20wallpaper%20design%20resource%20background%20downloadable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desktop%20wallpaper%20design%20resource%20background%20downloadable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desktop%20wallpaper%20design%20resource%20background%20downloadable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4DD1EE-174D-5749-2ECC-F1E9766351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28049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1859E2-546A-A5DA-5C85-2E94202E6AD5}"/>
              </a:ext>
            </a:extLst>
          </p:cNvPr>
          <p:cNvSpPr txBox="1"/>
          <p:nvPr/>
        </p:nvSpPr>
        <p:spPr>
          <a:xfrm>
            <a:off x="0" y="0"/>
            <a:ext cx="118675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highlight>
                  <a:srgbClr val="000080"/>
                </a:highlight>
              </a:rPr>
              <a:t>SMARTPAY ANALYTICS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highlight>
                  <a:srgbClr val="000080"/>
                </a:highlight>
              </a:rPr>
              <a:t>Customer Growth, Transaction Performance &amp; Risk Management Analysis Using SQL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6EA55-ED71-61DB-8534-61389AA53C20}"/>
              </a:ext>
            </a:extLst>
          </p:cNvPr>
          <p:cNvSpPr txBox="1"/>
          <p:nvPr/>
        </p:nvSpPr>
        <p:spPr>
          <a:xfrm>
            <a:off x="483708" y="5836402"/>
            <a:ext cx="1681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</a:rPr>
              <a:t>PRESENTED BY:</a:t>
            </a:r>
          </a:p>
          <a:p>
            <a:r>
              <a:rPr lang="en-IN" b="1" dirty="0">
                <a:solidFill>
                  <a:srgbClr val="002060"/>
                </a:solidFill>
              </a:rPr>
              <a:t>VIBHA TELE </a:t>
            </a:r>
          </a:p>
        </p:txBody>
      </p:sp>
      <p:pic>
        <p:nvPicPr>
          <p:cNvPr id="12" name="Graphic 11" descr="Users with solid fill">
            <a:extLst>
              <a:ext uri="{FF2B5EF4-FFF2-40B4-BE49-F238E27FC236}">
                <a16:creationId xmlns:a16="http://schemas.microsoft.com/office/drawing/2014/main" id="{9FC9BA8B-E25C-3A49-47EA-E6549F7A99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53566" y="6090742"/>
            <a:ext cx="601884" cy="601884"/>
          </a:xfrm>
          <a:prstGeom prst="rect">
            <a:avLst/>
          </a:prstGeom>
        </p:spPr>
      </p:pic>
      <p:pic>
        <p:nvPicPr>
          <p:cNvPr id="15" name="Graphic 14" descr="Money with solid fill">
            <a:extLst>
              <a:ext uri="{FF2B5EF4-FFF2-40B4-BE49-F238E27FC236}">
                <a16:creationId xmlns:a16="http://schemas.microsoft.com/office/drawing/2014/main" id="{69CA8C23-FFA2-4D79-954D-AE3ACEFC46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9276" y="6090742"/>
            <a:ext cx="601884" cy="601884"/>
          </a:xfrm>
          <a:prstGeom prst="rect">
            <a:avLst/>
          </a:prstGeom>
        </p:spPr>
      </p:pic>
      <p:pic>
        <p:nvPicPr>
          <p:cNvPr id="17" name="Graphic 16" descr="Bank with solid fill">
            <a:extLst>
              <a:ext uri="{FF2B5EF4-FFF2-40B4-BE49-F238E27FC236}">
                <a16:creationId xmlns:a16="http://schemas.microsoft.com/office/drawing/2014/main" id="{E2586A9B-15C4-F99B-0487-4D57EE63F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5263" y="6090742"/>
            <a:ext cx="601884" cy="601884"/>
          </a:xfrm>
          <a:prstGeom prst="rect">
            <a:avLst/>
          </a:prstGeom>
        </p:spPr>
      </p:pic>
      <p:pic>
        <p:nvPicPr>
          <p:cNvPr id="19" name="Graphic 18" descr="Smart Phone with solid fill">
            <a:extLst>
              <a:ext uri="{FF2B5EF4-FFF2-40B4-BE49-F238E27FC236}">
                <a16:creationId xmlns:a16="http://schemas.microsoft.com/office/drawing/2014/main" id="{7DC5DC0E-D39A-8787-5BD8-79C6600914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1250" y="6090742"/>
            <a:ext cx="601884" cy="60188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81779-A0B5-DFC5-649F-7F16A0F43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4019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86E70A-8D4C-A81C-FB5E-C1E852B518D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9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08CF05-F0DE-5137-AB25-1B5CC815D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94" y="1150197"/>
            <a:ext cx="11602065" cy="5358738"/>
          </a:xfrm>
        </p:spPr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SmartPay is a digital payment platform serving customers across multiple states and merchants.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As the business grew, management faced several challenges: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Identifying valuable and high-risk customers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Monitoring card portfolio health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Improving transaction success rates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Understanding where customers are concentrated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Understanding merchant revenue contribution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Management needed a data-driven approach to support business growth, reduce risk, and improve customer engagement.</a:t>
            </a:r>
          </a:p>
          <a:p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C05A47-0E23-8BC7-E03C-A24D17A2905E}"/>
              </a:ext>
            </a:extLst>
          </p:cNvPr>
          <p:cNvSpPr txBox="1"/>
          <p:nvPr/>
        </p:nvSpPr>
        <p:spPr>
          <a:xfrm>
            <a:off x="325694" y="93247"/>
            <a:ext cx="48264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u="sng" dirty="0">
                <a:solidFill>
                  <a:schemeClr val="accent2">
                    <a:lumMod val="50000"/>
                  </a:schemeClr>
                </a:solidFill>
              </a:rPr>
              <a:t>BUSINESS SCENARIO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B7E19-E740-6001-FB2E-7982E5D20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b="1" smtClean="0"/>
              <a:t>2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72214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F69F4A-6309-3773-CD32-1FDC4CA701E3}"/>
              </a:ext>
            </a:extLst>
          </p:cNvPr>
          <p:cNvSpPr txBox="1"/>
          <p:nvPr/>
        </p:nvSpPr>
        <p:spPr>
          <a:xfrm>
            <a:off x="1322926" y="156072"/>
            <a:ext cx="3967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solidFill>
                  <a:srgbClr val="002060"/>
                </a:solidFill>
              </a:rPr>
              <a:t>Aim &amp; Objectives: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C0712-5FB6-F687-4270-A71DFA1A6C1F}"/>
              </a:ext>
            </a:extLst>
          </p:cNvPr>
          <p:cNvSpPr txBox="1"/>
          <p:nvPr/>
        </p:nvSpPr>
        <p:spPr>
          <a:xfrm>
            <a:off x="83573" y="3202798"/>
            <a:ext cx="116905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</a:rPr>
              <a:t>OBJECTIVES</a:t>
            </a:r>
            <a:r>
              <a:rPr lang="en-US" sz="2800" b="1" dirty="0">
                <a:solidFill>
                  <a:srgbClr val="002060"/>
                </a:solidFill>
              </a:rPr>
              <a:t>:</a:t>
            </a:r>
          </a:p>
          <a:p>
            <a:r>
              <a:rPr lang="en-US" sz="2800" b="1" dirty="0"/>
              <a:t>Analyze customer growth and engagement</a:t>
            </a:r>
          </a:p>
          <a:p>
            <a:r>
              <a:rPr lang="en-US" sz="2800" b="1" dirty="0"/>
              <a:t>✔ Identify financial and card-related risks</a:t>
            </a:r>
          </a:p>
          <a:p>
            <a:r>
              <a:rPr lang="en-US" sz="2800" b="1" dirty="0"/>
              <a:t>✔ Evaluate transaction performance and failures</a:t>
            </a:r>
          </a:p>
          <a:p>
            <a:r>
              <a:rPr lang="en-US" sz="2800" b="1" dirty="0"/>
              <a:t>✔ Measure merchant revenue contribution</a:t>
            </a:r>
          </a:p>
          <a:p>
            <a:r>
              <a:rPr lang="en-US" sz="2800" b="1" dirty="0"/>
              <a:t>✔ Discover high-value customer segments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DB383A-5FC8-5006-5F7E-2B29361F5492}"/>
              </a:ext>
            </a:extLst>
          </p:cNvPr>
          <p:cNvSpPr txBox="1"/>
          <p:nvPr/>
        </p:nvSpPr>
        <p:spPr>
          <a:xfrm>
            <a:off x="138138" y="1094659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</a:rPr>
              <a:t>Project Aim:</a:t>
            </a:r>
          </a:p>
          <a:p>
            <a:r>
              <a:rPr lang="en-US" sz="2800" b="1" dirty="0"/>
              <a:t>To analyze SmartPay customer and transaction data using SQL and provide insights that support business growth, operational efficiency, and risk management</a:t>
            </a:r>
            <a:r>
              <a:rPr lang="en-US" sz="2800" dirty="0"/>
              <a:t>.</a:t>
            </a:r>
          </a:p>
        </p:txBody>
      </p:sp>
      <p:pic>
        <p:nvPicPr>
          <p:cNvPr id="10" name="Graphic 9" descr="Target with solid fill">
            <a:extLst>
              <a:ext uri="{FF2B5EF4-FFF2-40B4-BE49-F238E27FC236}">
                <a16:creationId xmlns:a16="http://schemas.microsoft.com/office/drawing/2014/main" id="{101CC125-ED1C-0A09-9832-D532A0D368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609" y="58229"/>
            <a:ext cx="919317" cy="91931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25DA80-3B41-4820-12CC-FC7FFB235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b="1" smtClean="0"/>
              <a:t>3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74710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57A9A-F736-4FCD-37FB-565B1E874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0220"/>
            <a:ext cx="10515600" cy="1325563"/>
          </a:xfrm>
        </p:spPr>
        <p:txBody>
          <a:bodyPr/>
          <a:lstStyle/>
          <a:p>
            <a:r>
              <a:rPr lang="en-IN" b="1" u="sng" dirty="0">
                <a:solidFill>
                  <a:srgbClr val="002060"/>
                </a:solidFill>
                <a:latin typeface="+mn-lt"/>
              </a:rPr>
              <a:t>DATASET OVERVIEW: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8F6900E-30D4-43AE-3494-DE6F04234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432908"/>
              </p:ext>
            </p:extLst>
          </p:nvPr>
        </p:nvGraphicFramePr>
        <p:xfrm>
          <a:off x="7649496" y="943173"/>
          <a:ext cx="4404850" cy="2926080"/>
        </p:xfrm>
        <a:graphic>
          <a:graphicData uri="http://schemas.openxmlformats.org/drawingml/2006/table">
            <a:tbl>
              <a:tblPr/>
              <a:tblGrid>
                <a:gridCol w="1443450">
                  <a:extLst>
                    <a:ext uri="{9D8B030D-6E8A-4147-A177-3AD203B41FA5}">
                      <a16:colId xmlns:a16="http://schemas.microsoft.com/office/drawing/2014/main" val="108023340"/>
                    </a:ext>
                  </a:extLst>
                </a:gridCol>
                <a:gridCol w="1480700">
                  <a:extLst>
                    <a:ext uri="{9D8B030D-6E8A-4147-A177-3AD203B41FA5}">
                      <a16:colId xmlns:a16="http://schemas.microsoft.com/office/drawing/2014/main" val="236489538"/>
                    </a:ext>
                  </a:extLst>
                </a:gridCol>
                <a:gridCol w="1480700">
                  <a:extLst>
                    <a:ext uri="{9D8B030D-6E8A-4147-A177-3AD203B41FA5}">
                      <a16:colId xmlns:a16="http://schemas.microsoft.com/office/drawing/2014/main" val="3504122893"/>
                    </a:ext>
                  </a:extLst>
                </a:gridCol>
              </a:tblGrid>
              <a:tr h="3540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</a:rPr>
                        <a:t>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</a:rPr>
                        <a:t>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solidFill>
                            <a:srgbClr val="002060"/>
                          </a:solidFill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43486"/>
                  </a:ext>
                </a:extLst>
              </a:tr>
              <a:tr h="6195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Customer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604585"/>
                  </a:ext>
                </a:extLst>
              </a:tr>
              <a:tr h="6195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Card Details &amp;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788173"/>
                  </a:ext>
                </a:extLst>
              </a:tr>
              <a:tr h="6195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Merchants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Merchant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312790"/>
                  </a:ext>
                </a:extLst>
              </a:tr>
              <a:tr h="6195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Payment 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95544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6283342-B290-D95D-C9C2-4C3ED4AA8918}"/>
              </a:ext>
            </a:extLst>
          </p:cNvPr>
          <p:cNvSpPr txBox="1"/>
          <p:nvPr/>
        </p:nvSpPr>
        <p:spPr>
          <a:xfrm>
            <a:off x="7649496" y="4230588"/>
            <a:ext cx="41590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Key Relationships</a:t>
            </a:r>
            <a:endParaRPr lang="en-US" sz="2400" dirty="0">
              <a:solidFill>
                <a:srgbClr val="002060"/>
              </a:solidFill>
            </a:endParaRPr>
          </a:p>
          <a:p>
            <a:r>
              <a:rPr lang="en-US" sz="2400" dirty="0"/>
              <a:t>One User → One/Many Cards </a:t>
            </a:r>
          </a:p>
          <a:p>
            <a:r>
              <a:rPr lang="en-US" sz="2400" dirty="0"/>
              <a:t>One User → Many Transactions </a:t>
            </a:r>
          </a:p>
          <a:p>
            <a:r>
              <a:rPr lang="en-US" sz="2400" dirty="0"/>
              <a:t>One Merchant → Many Transactions </a:t>
            </a:r>
          </a:p>
          <a:p>
            <a:r>
              <a:rPr lang="en-US" sz="2400" dirty="0"/>
              <a:t>One Card → Many Transactions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801EAB-2273-41D4-B529-84AE387A5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11" y="846076"/>
            <a:ext cx="7010399" cy="60463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A523A0-E8ED-51FE-A60A-B44A64BD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0097" y="6356349"/>
            <a:ext cx="2743200" cy="365125"/>
          </a:xfrm>
        </p:spPr>
        <p:txBody>
          <a:bodyPr/>
          <a:lstStyle/>
          <a:p>
            <a:fld id="{03FAFDF0-24FC-4EEF-A6D0-BC169B1059AA}" type="slidenum">
              <a:rPr lang="en-IN" b="1" smtClean="0"/>
              <a:t>4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0316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F302FF4-CF29-126A-E53F-D1E590750F48}"/>
              </a:ext>
            </a:extLst>
          </p:cNvPr>
          <p:cNvSpPr txBox="1"/>
          <p:nvPr/>
        </p:nvSpPr>
        <p:spPr>
          <a:xfrm>
            <a:off x="147484" y="127819"/>
            <a:ext cx="46211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solidFill>
                  <a:srgbClr val="002060"/>
                </a:solidFill>
              </a:rPr>
              <a:t>Analysis Approach: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B8A998-1709-E04D-B1F4-ED15D5EE9488}"/>
              </a:ext>
            </a:extLst>
          </p:cNvPr>
          <p:cNvSpPr txBox="1"/>
          <p:nvPr/>
        </p:nvSpPr>
        <p:spPr>
          <a:xfrm>
            <a:off x="196645" y="838797"/>
            <a:ext cx="12044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SQL Analysis Framework:</a:t>
            </a:r>
          </a:p>
          <a:p>
            <a:r>
              <a:rPr lang="en-US" sz="2000" b="1" dirty="0"/>
              <a:t>To solve SmartPay's business challenges, the analysis was divided into six key areas: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6D851EB-83B5-5B33-50A1-2AFD04CAA0C6}"/>
              </a:ext>
            </a:extLst>
          </p:cNvPr>
          <p:cNvSpPr/>
          <p:nvPr/>
        </p:nvSpPr>
        <p:spPr>
          <a:xfrm>
            <a:off x="1268362" y="1798423"/>
            <a:ext cx="3637935" cy="108698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3F668F-C48C-D61A-BBCC-268F6FCBDBB8}"/>
              </a:ext>
            </a:extLst>
          </p:cNvPr>
          <p:cNvSpPr txBox="1"/>
          <p:nvPr/>
        </p:nvSpPr>
        <p:spPr>
          <a:xfrm>
            <a:off x="1401094" y="1924217"/>
            <a:ext cx="3505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1.Customer Growth &amp; Engagement</a:t>
            </a:r>
          </a:p>
          <a:p>
            <a:r>
              <a:rPr lang="en-US" dirty="0"/>
              <a:t>- User Distribution </a:t>
            </a:r>
          </a:p>
          <a:p>
            <a:r>
              <a:rPr lang="en-US" dirty="0"/>
              <a:t>- Wallet Balance Analysis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B29887-A5CD-47C9-E8C7-BCB7FB2F54F2}"/>
              </a:ext>
            </a:extLst>
          </p:cNvPr>
          <p:cNvSpPr/>
          <p:nvPr/>
        </p:nvSpPr>
        <p:spPr>
          <a:xfrm>
            <a:off x="6963693" y="1819493"/>
            <a:ext cx="3470788" cy="1086989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9F8325-0A79-6FB1-BC14-2B41F43ECF9E}"/>
              </a:ext>
            </a:extLst>
          </p:cNvPr>
          <p:cNvSpPr txBox="1"/>
          <p:nvPr/>
        </p:nvSpPr>
        <p:spPr>
          <a:xfrm>
            <a:off x="7342236" y="1924216"/>
            <a:ext cx="30602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2.Risk Management</a:t>
            </a:r>
          </a:p>
          <a:p>
            <a:r>
              <a:rPr lang="en-US" dirty="0"/>
              <a:t>- High-Risk Customers </a:t>
            </a:r>
          </a:p>
          <a:p>
            <a:r>
              <a:rPr lang="en-US" dirty="0"/>
              <a:t>- Card Status Monitoring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25CF7EC-FE88-1259-D99E-B23144EA6CB9}"/>
              </a:ext>
            </a:extLst>
          </p:cNvPr>
          <p:cNvSpPr/>
          <p:nvPr/>
        </p:nvSpPr>
        <p:spPr>
          <a:xfrm>
            <a:off x="1268362" y="3167314"/>
            <a:ext cx="3505201" cy="108699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3.Transaction Performance</a:t>
            </a:r>
          </a:p>
          <a:p>
            <a:r>
              <a:rPr lang="en-US" dirty="0"/>
              <a:t>- Success Rate Analysis </a:t>
            </a:r>
          </a:p>
          <a:p>
            <a:r>
              <a:rPr lang="en-US" dirty="0"/>
              <a:t>- Failure Reason Analysis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15741F-937E-D625-B4C6-01E5B0CA4A5C}"/>
              </a:ext>
            </a:extLst>
          </p:cNvPr>
          <p:cNvSpPr/>
          <p:nvPr/>
        </p:nvSpPr>
        <p:spPr>
          <a:xfrm>
            <a:off x="6947717" y="3154662"/>
            <a:ext cx="3470788" cy="102944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  5. Merchant Performance</a:t>
            </a:r>
          </a:p>
          <a:p>
            <a:r>
              <a:rPr lang="en-IN" dirty="0"/>
              <a:t>       - Revenue Contribution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0616390-E86B-5140-EA18-590A31786FB1}"/>
              </a:ext>
            </a:extLst>
          </p:cNvPr>
          <p:cNvSpPr/>
          <p:nvPr/>
        </p:nvSpPr>
        <p:spPr>
          <a:xfrm>
            <a:off x="1332266" y="4506888"/>
            <a:ext cx="3505201" cy="1072878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5 .Customer Value Analytics</a:t>
            </a:r>
          </a:p>
          <a:p>
            <a:r>
              <a:rPr lang="en-US" b="1" dirty="0">
                <a:solidFill>
                  <a:schemeClr val="tx1"/>
                </a:solidFill>
              </a:rPr>
              <a:t>  - High-Spending Customers &amp;     Customer Ranking 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C4B43FB-9046-B16C-1825-E6E7D3A28E7E}"/>
              </a:ext>
            </a:extLst>
          </p:cNvPr>
          <p:cNvSpPr/>
          <p:nvPr/>
        </p:nvSpPr>
        <p:spPr>
          <a:xfrm>
            <a:off x="6963693" y="4550319"/>
            <a:ext cx="3438836" cy="102944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6.Revenue Opportunity  Analytics</a:t>
            </a:r>
          </a:p>
          <a:p>
            <a:r>
              <a:rPr lang="en-US" b="1" dirty="0">
                <a:solidFill>
                  <a:schemeClr val="tx1"/>
                </a:solidFill>
              </a:rPr>
              <a:t>- Above-Average Spenders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7E6FFD-EBA9-4AAA-688C-38A9136F80E0}"/>
              </a:ext>
            </a:extLst>
          </p:cNvPr>
          <p:cNvSpPr txBox="1"/>
          <p:nvPr/>
        </p:nvSpPr>
        <p:spPr>
          <a:xfrm>
            <a:off x="884901" y="5875780"/>
            <a:ext cx="10726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SQL Concepts Used</a:t>
            </a:r>
          </a:p>
          <a:p>
            <a:r>
              <a:rPr lang="en-US" sz="2400" dirty="0"/>
              <a:t>GROUP BY • JOINS • AGGREGATES  • WINDOW FUNCTIONS • SUBQUERIES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B4809E-847C-0690-5E89-D3022DADF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96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BD63319-A76F-FC8A-66F2-26B4613CF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81116"/>
            <a:ext cx="12192000" cy="70202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CE6F71-A58E-BD13-0315-E8C354435B52}"/>
              </a:ext>
            </a:extLst>
          </p:cNvPr>
          <p:cNvSpPr txBox="1"/>
          <p:nvPr/>
        </p:nvSpPr>
        <p:spPr>
          <a:xfrm>
            <a:off x="4021393" y="34896"/>
            <a:ext cx="45130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highlight>
                  <a:srgbClr val="00FFFF"/>
                </a:highlight>
              </a:rPr>
              <a:t>1.CUSTOMER GROWTH &amp; ENGAGEMENT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DEEA9E1-5E22-1785-3608-DE28BC8543ED}"/>
              </a:ext>
            </a:extLst>
          </p:cNvPr>
          <p:cNvSpPr/>
          <p:nvPr/>
        </p:nvSpPr>
        <p:spPr>
          <a:xfrm>
            <a:off x="393292" y="711628"/>
            <a:ext cx="4827637" cy="369332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1.Which states contribute the most customers?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8F4843F-471C-7EFE-0C03-9C4EC664B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7005978"/>
              </p:ext>
            </p:extLst>
          </p:nvPr>
        </p:nvGraphicFramePr>
        <p:xfrm>
          <a:off x="788733" y="1374557"/>
          <a:ext cx="3348498" cy="16133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0664">
                  <a:extLst>
                    <a:ext uri="{9D8B030D-6E8A-4147-A177-3AD203B41FA5}">
                      <a16:colId xmlns:a16="http://schemas.microsoft.com/office/drawing/2014/main" val="1714757003"/>
                    </a:ext>
                  </a:extLst>
                </a:gridCol>
                <a:gridCol w="1667834">
                  <a:extLst>
                    <a:ext uri="{9D8B030D-6E8A-4147-A177-3AD203B41FA5}">
                      <a16:colId xmlns:a16="http://schemas.microsoft.com/office/drawing/2014/main" val="3432096369"/>
                    </a:ext>
                  </a:extLst>
                </a:gridCol>
              </a:tblGrid>
              <a:tr h="3560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STATE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TOTAL USERS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486414"/>
                  </a:ext>
                </a:extLst>
              </a:tr>
              <a:tr h="1666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CALIFORNIA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378392"/>
                  </a:ext>
                </a:extLst>
              </a:tr>
              <a:tr h="1666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TEXAS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7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03618"/>
                  </a:ext>
                </a:extLst>
              </a:tr>
              <a:tr h="1666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NORTH COROLINA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0766390"/>
                  </a:ext>
                </a:extLst>
              </a:tr>
              <a:tr h="1666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ARIZONA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360378"/>
                  </a:ext>
                </a:extLst>
              </a:tr>
              <a:tr h="16669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FLORIDA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087816"/>
                  </a:ext>
                </a:extLst>
              </a:tr>
            </a:tbl>
          </a:graphicData>
        </a:graphic>
      </p:graphicFrame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C2B889B1-8279-8EDC-7C77-CFEAA5921E36}"/>
              </a:ext>
            </a:extLst>
          </p:cNvPr>
          <p:cNvSpPr/>
          <p:nvPr/>
        </p:nvSpPr>
        <p:spPr>
          <a:xfrm>
            <a:off x="157317" y="3559273"/>
            <a:ext cx="5732206" cy="3161074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Finding</a:t>
            </a:r>
            <a:r>
              <a:rPr lang="en-IN" dirty="0">
                <a:solidFill>
                  <a:schemeClr val="tx1"/>
                </a:solidFill>
              </a:rPr>
              <a:t> :California leads with 8 users, followed by Texas with 7 users, while North Carolina and Arizona have 3 users each.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Insight </a:t>
            </a:r>
            <a:r>
              <a:rPr lang="en-IN" dirty="0">
                <a:solidFill>
                  <a:schemeClr val="tx1"/>
                </a:solidFill>
              </a:rPr>
              <a:t>:Customer adoption is concentrated in a few key states, creating strong regional growth opportunities.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solution </a:t>
            </a:r>
            <a:r>
              <a:rPr lang="en-IN" dirty="0">
                <a:solidFill>
                  <a:schemeClr val="tx1"/>
                </a:solidFill>
              </a:rPr>
              <a:t>: Expand merchant partnerships and marketing campaigns in California and Texas to maximize growth.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D6D3861-7855-65C0-CDFC-42A00CF5E2D2}"/>
              </a:ext>
            </a:extLst>
          </p:cNvPr>
          <p:cNvSpPr/>
          <p:nvPr/>
        </p:nvSpPr>
        <p:spPr>
          <a:xfrm>
            <a:off x="6523704" y="697816"/>
            <a:ext cx="5510979" cy="369332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2.which customer segment has highest wallet balance?</a:t>
            </a:r>
            <a:endParaRPr lang="en-IN" b="1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FCA2681-1A0B-A384-0264-BDC05F128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9207886"/>
              </p:ext>
            </p:extLst>
          </p:nvPr>
        </p:nvGraphicFramePr>
        <p:xfrm>
          <a:off x="7634130" y="1513949"/>
          <a:ext cx="3731960" cy="14384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8512">
                  <a:extLst>
                    <a:ext uri="{9D8B030D-6E8A-4147-A177-3AD203B41FA5}">
                      <a16:colId xmlns:a16="http://schemas.microsoft.com/office/drawing/2014/main" val="777433680"/>
                    </a:ext>
                  </a:extLst>
                </a:gridCol>
                <a:gridCol w="2043448">
                  <a:extLst>
                    <a:ext uri="{9D8B030D-6E8A-4147-A177-3AD203B41FA5}">
                      <a16:colId xmlns:a16="http://schemas.microsoft.com/office/drawing/2014/main" val="130208947"/>
                    </a:ext>
                  </a:extLst>
                </a:gridCol>
              </a:tblGrid>
              <a:tr h="47966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ACCOUNT STATUS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AVG_WALLET_BALANCE($)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79008"/>
                  </a:ext>
                </a:extLst>
              </a:tr>
              <a:tr h="3143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ACTIVE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3830.460938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453627"/>
                  </a:ext>
                </a:extLst>
              </a:tr>
              <a:tr h="3143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INACTIVE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394.55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3099629"/>
                  </a:ext>
                </a:extLst>
              </a:tr>
              <a:tr h="3143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BLOCKED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200.65625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498035"/>
                  </a:ext>
                </a:extLst>
              </a:tr>
            </a:tbl>
          </a:graphicData>
        </a:graphic>
      </p:graphicFrame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AB93C6D2-B6E5-4F83-2DD4-02FE79E4D541}"/>
              </a:ext>
            </a:extLst>
          </p:cNvPr>
          <p:cNvSpPr/>
          <p:nvPr/>
        </p:nvSpPr>
        <p:spPr>
          <a:xfrm>
            <a:off x="6459793" y="3559273"/>
            <a:ext cx="5653548" cy="3161074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Finding</a:t>
            </a:r>
            <a:r>
              <a:rPr lang="en-IN" dirty="0">
                <a:solidFill>
                  <a:schemeClr val="tx1"/>
                </a:solidFill>
              </a:rPr>
              <a:t> :Active users hold the highest average wallet balance (</a:t>
            </a:r>
            <a:r>
              <a:rPr lang="en-IN" b="1" dirty="0">
                <a:solidFill>
                  <a:schemeClr val="tx1"/>
                </a:solidFill>
              </a:rPr>
              <a:t>$3,830</a:t>
            </a:r>
            <a:r>
              <a:rPr lang="en-IN" dirty="0">
                <a:solidFill>
                  <a:schemeClr val="tx1"/>
                </a:solidFill>
              </a:rPr>
              <a:t>), compared to Inactive (</a:t>
            </a:r>
            <a:r>
              <a:rPr lang="en-IN" b="1" dirty="0">
                <a:solidFill>
                  <a:schemeClr val="tx1"/>
                </a:solidFill>
              </a:rPr>
              <a:t>$395</a:t>
            </a:r>
            <a:r>
              <a:rPr lang="en-IN" dirty="0">
                <a:solidFill>
                  <a:schemeClr val="tx1"/>
                </a:solidFill>
              </a:rPr>
              <a:t>) and Blocked (</a:t>
            </a:r>
            <a:r>
              <a:rPr lang="en-IN" b="1" dirty="0">
                <a:solidFill>
                  <a:schemeClr val="tx1"/>
                </a:solidFill>
              </a:rPr>
              <a:t>$201</a:t>
            </a:r>
            <a:r>
              <a:rPr lang="en-IN" dirty="0">
                <a:solidFill>
                  <a:schemeClr val="tx1"/>
                </a:solidFill>
              </a:rPr>
              <a:t>) users.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Insight </a:t>
            </a:r>
            <a:r>
              <a:rPr lang="en-IN" dirty="0">
                <a:solidFill>
                  <a:schemeClr val="tx1"/>
                </a:solidFill>
              </a:rPr>
              <a:t>:Higher wallet balances indicate stronger engagement and greater platform usage among active customers.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solution </a:t>
            </a:r>
            <a:r>
              <a:rPr lang="en-IN" dirty="0">
                <a:solidFill>
                  <a:schemeClr val="tx1"/>
                </a:solidFill>
              </a:rPr>
              <a:t>: Launch reactivation campaigns and wallet incentives to increase engagement among inactive users.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0723DD-3CF4-A217-2D96-F6041308D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420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DE16F-033D-7C16-96F2-1258B07E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17F693C-5FAD-887A-B0DD-7EB652E10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71284"/>
            <a:ext cx="12192000" cy="70202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695384-D009-E0B0-B20B-9DA8266911D2}"/>
              </a:ext>
            </a:extLst>
          </p:cNvPr>
          <p:cNvSpPr txBox="1"/>
          <p:nvPr/>
        </p:nvSpPr>
        <p:spPr>
          <a:xfrm>
            <a:off x="4021393" y="34896"/>
            <a:ext cx="4748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highlight>
                  <a:srgbClr val="00FFFF"/>
                </a:highlight>
              </a:rPr>
              <a:t>1.CUSTOMER GROWTH &amp; ENGAGEMENT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7DF4FAE-9F1C-AA4C-B239-C8FE7A32D210}"/>
              </a:ext>
            </a:extLst>
          </p:cNvPr>
          <p:cNvSpPr/>
          <p:nvPr/>
        </p:nvSpPr>
        <p:spPr>
          <a:xfrm>
            <a:off x="2723534" y="658792"/>
            <a:ext cx="6744929" cy="400110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/>
          </a:p>
          <a:p>
            <a:endParaRPr lang="en-IN" dirty="0"/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A8CA574A-A071-EDE3-4F2C-9D3F2A6EF11A}"/>
              </a:ext>
            </a:extLst>
          </p:cNvPr>
          <p:cNvSpPr/>
          <p:nvPr/>
        </p:nvSpPr>
        <p:spPr>
          <a:xfrm>
            <a:off x="2035279" y="3681386"/>
            <a:ext cx="8681884" cy="2770208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Finding</a:t>
            </a:r>
            <a:r>
              <a:rPr lang="en-IN" dirty="0">
                <a:solidFill>
                  <a:schemeClr val="tx1"/>
                </a:solidFill>
              </a:rPr>
              <a:t> :Top users maintain wallet balances above </a:t>
            </a:r>
            <a:r>
              <a:rPr lang="en-IN" b="1" dirty="0">
                <a:solidFill>
                  <a:schemeClr val="tx1"/>
                </a:solidFill>
              </a:rPr>
              <a:t>$7,800</a:t>
            </a:r>
            <a:r>
              <a:rPr lang="en-IN" dirty="0">
                <a:solidFill>
                  <a:schemeClr val="tx1"/>
                </a:solidFill>
              </a:rPr>
              <a:t>, led by Charles Scott (</a:t>
            </a:r>
            <a:r>
              <a:rPr lang="en-IN" b="1" dirty="0">
                <a:solidFill>
                  <a:schemeClr val="tx1"/>
                </a:solidFill>
              </a:rPr>
              <a:t>$9,255</a:t>
            </a:r>
            <a:r>
              <a:rPr lang="en-IN" dirty="0">
                <a:solidFill>
                  <a:schemeClr val="tx1"/>
                </a:solidFill>
              </a:rPr>
              <a:t>) and Alexander Flores (</a:t>
            </a:r>
            <a:r>
              <a:rPr lang="en-IN" b="1" dirty="0">
                <a:solidFill>
                  <a:schemeClr val="tx1"/>
                </a:solidFill>
              </a:rPr>
              <a:t>$9,250</a:t>
            </a:r>
            <a:r>
              <a:rPr lang="en-IN" dirty="0">
                <a:solidFill>
                  <a:schemeClr val="tx1"/>
                </a:solidFill>
              </a:rPr>
              <a:t>).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Insight </a:t>
            </a:r>
            <a:r>
              <a:rPr lang="en-IN" dirty="0">
                <a:solidFill>
                  <a:schemeClr val="tx1"/>
                </a:solidFill>
              </a:rPr>
              <a:t>:</a:t>
            </a:r>
            <a:r>
              <a:rPr lang="en-IN" dirty="0"/>
              <a:t> </a:t>
            </a:r>
            <a:r>
              <a:rPr lang="en-IN" dirty="0">
                <a:solidFill>
                  <a:schemeClr val="tx1"/>
                </a:solidFill>
              </a:rPr>
              <a:t>A small group of customers contributes a substantial share of wallet value on the platform.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solution </a:t>
            </a:r>
            <a:r>
              <a:rPr lang="en-IN" dirty="0">
                <a:solidFill>
                  <a:schemeClr val="tx1"/>
                </a:solidFill>
              </a:rPr>
              <a:t>: Launch VIP loyalty programs and personalized offers for high-value customers. 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A10A6C-C3E9-6F4A-49CE-0F8BD7EBCB9B}"/>
              </a:ext>
            </a:extLst>
          </p:cNvPr>
          <p:cNvSpPr txBox="1"/>
          <p:nvPr/>
        </p:nvSpPr>
        <p:spPr>
          <a:xfrm>
            <a:off x="2812026" y="658792"/>
            <a:ext cx="6597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3.Who are the most valuable customers based on balance ?</a:t>
            </a:r>
            <a:endParaRPr lang="en-IN" sz="20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FD3B61-ED9B-4B99-8EB8-F5A0A8EC1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7332110"/>
              </p:ext>
            </p:extLst>
          </p:nvPr>
        </p:nvGraphicFramePr>
        <p:xfrm>
          <a:off x="2507222" y="1425206"/>
          <a:ext cx="7413526" cy="1637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9333">
                  <a:extLst>
                    <a:ext uri="{9D8B030D-6E8A-4147-A177-3AD203B41FA5}">
                      <a16:colId xmlns:a16="http://schemas.microsoft.com/office/drawing/2014/main" val="1426212445"/>
                    </a:ext>
                  </a:extLst>
                </a:gridCol>
                <a:gridCol w="1765751">
                  <a:extLst>
                    <a:ext uri="{9D8B030D-6E8A-4147-A177-3AD203B41FA5}">
                      <a16:colId xmlns:a16="http://schemas.microsoft.com/office/drawing/2014/main" val="3025432962"/>
                    </a:ext>
                  </a:extLst>
                </a:gridCol>
                <a:gridCol w="1779333">
                  <a:extLst>
                    <a:ext uri="{9D8B030D-6E8A-4147-A177-3AD203B41FA5}">
                      <a16:colId xmlns:a16="http://schemas.microsoft.com/office/drawing/2014/main" val="2201781875"/>
                    </a:ext>
                  </a:extLst>
                </a:gridCol>
                <a:gridCol w="2089109">
                  <a:extLst>
                    <a:ext uri="{9D8B030D-6E8A-4147-A177-3AD203B41FA5}">
                      <a16:colId xmlns:a16="http://schemas.microsoft.com/office/drawing/2014/main" val="3292138695"/>
                    </a:ext>
                  </a:extLst>
                </a:gridCol>
              </a:tblGrid>
              <a:tr h="272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USER_ID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FIRST_NAME 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LAST_NAME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WALLET_BALANCE($)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222967"/>
                  </a:ext>
                </a:extLst>
              </a:tr>
              <a:tr h="272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USR 1031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CHARLES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SCOTT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9255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187346"/>
                  </a:ext>
                </a:extLst>
              </a:tr>
              <a:tr h="272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USR 1010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ALEXANDER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FLORES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9250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651185"/>
                  </a:ext>
                </a:extLst>
              </a:tr>
              <a:tr h="272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USR 1044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JACK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JOHNSON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8620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912533"/>
                  </a:ext>
                </a:extLst>
              </a:tr>
              <a:tr h="272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USR 1004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PATRICIA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LEWIS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8450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367866"/>
                  </a:ext>
                </a:extLst>
              </a:tr>
              <a:tr h="272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USR 1022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KENNETH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WALKER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7850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9779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8BB320-8AB9-118B-9BE2-EE80315E0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5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1CCFC-E8F5-BB41-56CB-9C439202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747E827-0DC4-5BE4-9CB3-9505E8267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9832"/>
            <a:ext cx="12192000" cy="70202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39E324-857F-ECA2-0870-1486A842A0A0}"/>
              </a:ext>
            </a:extLst>
          </p:cNvPr>
          <p:cNvSpPr txBox="1"/>
          <p:nvPr/>
        </p:nvSpPr>
        <p:spPr>
          <a:xfrm>
            <a:off x="4719483" y="22435"/>
            <a:ext cx="3667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highlight>
                  <a:srgbClr val="00FFFF"/>
                </a:highlight>
              </a:rPr>
              <a:t>2.CREDIT &amp; RISK MANAGEMENT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D6ABC97-765C-FD4B-1FA5-EB0F2D77E970}"/>
              </a:ext>
            </a:extLst>
          </p:cNvPr>
          <p:cNvSpPr/>
          <p:nvPr/>
        </p:nvSpPr>
        <p:spPr>
          <a:xfrm>
            <a:off x="250724" y="465622"/>
            <a:ext cx="6130412" cy="601526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 4.Which customers have low credit scores and high debt burdens?</a:t>
            </a:r>
            <a:endParaRPr lang="en-IN" b="1" dirty="0"/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CDA9A50A-5591-FD52-DED4-C50A65A2FDEB}"/>
              </a:ext>
            </a:extLst>
          </p:cNvPr>
          <p:cNvSpPr/>
          <p:nvPr/>
        </p:nvSpPr>
        <p:spPr>
          <a:xfrm>
            <a:off x="250724" y="4029247"/>
            <a:ext cx="5687960" cy="2841521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Finding</a:t>
            </a:r>
            <a:r>
              <a:rPr lang="en-IN" dirty="0">
                <a:solidFill>
                  <a:schemeClr val="tx1"/>
                </a:solidFill>
              </a:rPr>
              <a:t> :</a:t>
            </a:r>
            <a:r>
              <a:rPr lang="en-IN" b="1" dirty="0">
                <a:solidFill>
                  <a:schemeClr val="tx1"/>
                </a:solidFill>
              </a:rPr>
              <a:t>6 customers</a:t>
            </a:r>
            <a:r>
              <a:rPr lang="en-IN" dirty="0">
                <a:solidFill>
                  <a:schemeClr val="tx1"/>
                </a:solidFill>
              </a:rPr>
              <a:t> have credit scores below </a:t>
            </a:r>
            <a:r>
              <a:rPr lang="en-IN" b="1" dirty="0">
                <a:solidFill>
                  <a:schemeClr val="tx1"/>
                </a:solidFill>
              </a:rPr>
              <a:t>650</a:t>
            </a:r>
            <a:r>
              <a:rPr lang="en-IN" dirty="0">
                <a:solidFill>
                  <a:schemeClr val="tx1"/>
                </a:solidFill>
              </a:rPr>
              <a:t> and debts significantly higher than their annual income.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Insight </a:t>
            </a:r>
            <a:r>
              <a:rPr lang="en-IN" dirty="0">
                <a:solidFill>
                  <a:schemeClr val="tx1"/>
                </a:solidFill>
              </a:rPr>
              <a:t>:These customers represent a higher credit and payment default risk for the platform.</a:t>
            </a:r>
            <a:endParaRPr lang="en-IN" b="1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solution </a:t>
            </a:r>
            <a:r>
              <a:rPr lang="en-IN" dirty="0">
                <a:solidFill>
                  <a:schemeClr val="tx1"/>
                </a:solidFill>
              </a:rPr>
              <a:t>: Implement risk monitoring and additional transaction controls for high-risk customer segments.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F767573-70A4-E2E9-76E0-FDBDE4E50E3F}"/>
              </a:ext>
            </a:extLst>
          </p:cNvPr>
          <p:cNvSpPr/>
          <p:nvPr/>
        </p:nvSpPr>
        <p:spPr>
          <a:xfrm>
            <a:off x="6523704" y="445296"/>
            <a:ext cx="5510979" cy="621851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5.What is the distribution of active, inactive, and blocked cards?</a:t>
            </a:r>
            <a:endParaRPr lang="en-IN" b="1" dirty="0"/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A20D438A-29D5-081E-1776-8CF9B8A54DE2}"/>
              </a:ext>
            </a:extLst>
          </p:cNvPr>
          <p:cNvSpPr/>
          <p:nvPr/>
        </p:nvSpPr>
        <p:spPr>
          <a:xfrm>
            <a:off x="6189407" y="3940757"/>
            <a:ext cx="5845276" cy="2918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Finding</a:t>
            </a:r>
            <a:r>
              <a:rPr lang="en-IN" dirty="0">
                <a:solidFill>
                  <a:schemeClr val="tx1"/>
                </a:solidFill>
              </a:rPr>
              <a:t> :Out of 50 cards, </a:t>
            </a:r>
            <a:r>
              <a:rPr lang="en-IN" b="1" dirty="0">
                <a:solidFill>
                  <a:schemeClr val="tx1"/>
                </a:solidFill>
              </a:rPr>
              <a:t>32 are Active</a:t>
            </a:r>
            <a:r>
              <a:rPr lang="en-IN" dirty="0">
                <a:solidFill>
                  <a:schemeClr val="tx1"/>
                </a:solidFill>
              </a:rPr>
              <a:t>, </a:t>
            </a:r>
            <a:r>
              <a:rPr lang="en-IN" b="1" dirty="0">
                <a:solidFill>
                  <a:schemeClr val="tx1"/>
                </a:solidFill>
              </a:rPr>
              <a:t>10 Inactive</a:t>
            </a:r>
            <a:r>
              <a:rPr lang="en-IN" dirty="0">
                <a:solidFill>
                  <a:schemeClr val="tx1"/>
                </a:solidFill>
              </a:rPr>
              <a:t>, and </a:t>
            </a:r>
            <a:r>
              <a:rPr lang="en-IN" b="1" dirty="0">
                <a:solidFill>
                  <a:schemeClr val="tx1"/>
                </a:solidFill>
              </a:rPr>
              <a:t>8 Blocked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Insight </a:t>
            </a:r>
            <a:r>
              <a:rPr lang="en-IN" dirty="0">
                <a:solidFill>
                  <a:schemeClr val="tx1"/>
                </a:solidFill>
              </a:rPr>
              <a:t>:Most cards remain operational, while blocked cards may indicate fraud or security-related issues.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solution </a:t>
            </a:r>
            <a:r>
              <a:rPr lang="en-IN" dirty="0">
                <a:solidFill>
                  <a:schemeClr val="tx1"/>
                </a:solidFill>
              </a:rPr>
              <a:t>: Strengthen fraud monitoring and encourage inactive users to reactivate their cards.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2394B6-385D-04D4-18D0-417230147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147039"/>
              </p:ext>
            </p:extLst>
          </p:nvPr>
        </p:nvGraphicFramePr>
        <p:xfrm>
          <a:off x="157316" y="1504853"/>
          <a:ext cx="6287727" cy="21986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2405">
                  <a:extLst>
                    <a:ext uri="{9D8B030D-6E8A-4147-A177-3AD203B41FA5}">
                      <a16:colId xmlns:a16="http://schemas.microsoft.com/office/drawing/2014/main" val="3037675428"/>
                    </a:ext>
                  </a:extLst>
                </a:gridCol>
                <a:gridCol w="1290926">
                  <a:extLst>
                    <a:ext uri="{9D8B030D-6E8A-4147-A177-3AD203B41FA5}">
                      <a16:colId xmlns:a16="http://schemas.microsoft.com/office/drawing/2014/main" val="1703535950"/>
                    </a:ext>
                  </a:extLst>
                </a:gridCol>
                <a:gridCol w="1252004">
                  <a:extLst>
                    <a:ext uri="{9D8B030D-6E8A-4147-A177-3AD203B41FA5}">
                      <a16:colId xmlns:a16="http://schemas.microsoft.com/office/drawing/2014/main" val="596821692"/>
                    </a:ext>
                  </a:extLst>
                </a:gridCol>
                <a:gridCol w="1193620">
                  <a:extLst>
                    <a:ext uri="{9D8B030D-6E8A-4147-A177-3AD203B41FA5}">
                      <a16:colId xmlns:a16="http://schemas.microsoft.com/office/drawing/2014/main" val="980303138"/>
                    </a:ext>
                  </a:extLst>
                </a:gridCol>
                <a:gridCol w="1368772">
                  <a:extLst>
                    <a:ext uri="{9D8B030D-6E8A-4147-A177-3AD203B41FA5}">
                      <a16:colId xmlns:a16="http://schemas.microsoft.com/office/drawing/2014/main" val="2438526110"/>
                    </a:ext>
                  </a:extLst>
                </a:gridCol>
              </a:tblGrid>
              <a:tr h="2838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FIRST_NAME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LAST_NAME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CREDIT_SCORE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TOTAL_DEBT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YEARLY INCOME 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996601"/>
                  </a:ext>
                </a:extLst>
              </a:tr>
              <a:tr h="2838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ABIGAIL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WILLIAM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637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154817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61746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185198"/>
                  </a:ext>
                </a:extLst>
              </a:tr>
              <a:tr h="2838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BENJAMIN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HARRIS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629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94016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45727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126630"/>
                  </a:ext>
                </a:extLst>
              </a:tr>
              <a:tr h="2838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CHARLOTTE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HILL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610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61826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34317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520197"/>
                  </a:ext>
                </a:extLst>
              </a:tr>
              <a:tr h="2838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EMILY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WHITE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627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104052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43638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973859"/>
                  </a:ext>
                </a:extLst>
              </a:tr>
              <a:tr h="2838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JENNIFER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SMITH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568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46379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25847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191293"/>
                  </a:ext>
                </a:extLst>
              </a:tr>
              <a:tr h="28389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MIA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JACKSON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599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32509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20513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248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D6936F-C638-36D9-2883-E4D652C18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460507"/>
              </p:ext>
            </p:extLst>
          </p:nvPr>
        </p:nvGraphicFramePr>
        <p:xfrm>
          <a:off x="7275254" y="1764356"/>
          <a:ext cx="4316978" cy="16646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6759">
                  <a:extLst>
                    <a:ext uri="{9D8B030D-6E8A-4147-A177-3AD203B41FA5}">
                      <a16:colId xmlns:a16="http://schemas.microsoft.com/office/drawing/2014/main" val="2268448927"/>
                    </a:ext>
                  </a:extLst>
                </a:gridCol>
                <a:gridCol w="2150219">
                  <a:extLst>
                    <a:ext uri="{9D8B030D-6E8A-4147-A177-3AD203B41FA5}">
                      <a16:colId xmlns:a16="http://schemas.microsoft.com/office/drawing/2014/main" val="185491029"/>
                    </a:ext>
                  </a:extLst>
                </a:gridCol>
              </a:tblGrid>
              <a:tr h="4161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CARD_STATUS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TOTAL_DISTRIBITION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963179"/>
                  </a:ext>
                </a:extLst>
              </a:tr>
              <a:tr h="4161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ACTIVE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32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550331"/>
                  </a:ext>
                </a:extLst>
              </a:tr>
              <a:tr h="4161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INACTIVE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10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524809"/>
                  </a:ext>
                </a:extLst>
              </a:tr>
              <a:tr h="41616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BLOCKED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3302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CD9937-62BF-F6E1-13CD-411C33B33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626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A1BBF-2EF8-ED6E-D1C2-D4E33F9DC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7978B58-FB04-257B-C146-9C68A7BF4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81116"/>
            <a:ext cx="12192000" cy="70202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949CEF-69B5-E640-5BFB-BB2B988D70FC}"/>
              </a:ext>
            </a:extLst>
          </p:cNvPr>
          <p:cNvSpPr txBox="1"/>
          <p:nvPr/>
        </p:nvSpPr>
        <p:spPr>
          <a:xfrm>
            <a:off x="4581832" y="78937"/>
            <a:ext cx="3736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highlight>
                  <a:srgbClr val="00FFFF"/>
                </a:highlight>
              </a:rPr>
              <a:t>3.TRANSACTION PERFORMANCE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458C93-47DF-EB15-AE80-6EA83E79114C}"/>
              </a:ext>
            </a:extLst>
          </p:cNvPr>
          <p:cNvSpPr/>
          <p:nvPr/>
        </p:nvSpPr>
        <p:spPr>
          <a:xfrm>
            <a:off x="393292" y="711628"/>
            <a:ext cx="4827637" cy="369332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6.What is the transaction success rate? </a:t>
            </a:r>
            <a:endParaRPr lang="en-IN" b="1" dirty="0"/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A4626E97-E77F-92AF-0FFD-0D8DC5F70A99}"/>
              </a:ext>
            </a:extLst>
          </p:cNvPr>
          <p:cNvSpPr/>
          <p:nvPr/>
        </p:nvSpPr>
        <p:spPr>
          <a:xfrm>
            <a:off x="0" y="3659778"/>
            <a:ext cx="5761702" cy="308733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Finding</a:t>
            </a:r>
            <a:r>
              <a:rPr lang="en-IN" dirty="0">
                <a:solidFill>
                  <a:schemeClr val="tx1"/>
                </a:solidFill>
              </a:rPr>
              <a:t> :Out of 50 transactions, </a:t>
            </a:r>
            <a:r>
              <a:rPr lang="en-IN" b="1" dirty="0">
                <a:solidFill>
                  <a:schemeClr val="tx1"/>
                </a:solidFill>
              </a:rPr>
              <a:t>36 were successful</a:t>
            </a:r>
            <a:r>
              <a:rPr lang="en-IN" dirty="0">
                <a:solidFill>
                  <a:schemeClr val="tx1"/>
                </a:solidFill>
              </a:rPr>
              <a:t> and </a:t>
            </a:r>
            <a:r>
              <a:rPr lang="en-IN" b="1" dirty="0">
                <a:solidFill>
                  <a:schemeClr val="tx1"/>
                </a:solidFill>
              </a:rPr>
              <a:t>14 failed</a:t>
            </a:r>
            <a:r>
              <a:rPr lang="en-IN" dirty="0">
                <a:solidFill>
                  <a:schemeClr val="tx1"/>
                </a:solidFill>
              </a:rPr>
              <a:t>, resulting in a </a:t>
            </a:r>
            <a:r>
              <a:rPr lang="en-IN" b="1" dirty="0">
                <a:solidFill>
                  <a:schemeClr val="tx1"/>
                </a:solidFill>
              </a:rPr>
              <a:t>72% success rate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Insight </a:t>
            </a:r>
            <a:r>
              <a:rPr lang="en-IN" dirty="0">
                <a:solidFill>
                  <a:schemeClr val="tx1"/>
                </a:solidFill>
              </a:rPr>
              <a:t>:Transaction failures directly impact customer experience and revenue generation.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solution </a:t>
            </a:r>
            <a:r>
              <a:rPr lang="en-IN" dirty="0">
                <a:solidFill>
                  <a:schemeClr val="tx1"/>
                </a:solidFill>
              </a:rPr>
              <a:t>:Focus on reducing failure causes to improve payment reliability and customer satisfaction.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31A9011-0266-E2C4-E4FD-79D8077CFF23}"/>
              </a:ext>
            </a:extLst>
          </p:cNvPr>
          <p:cNvSpPr/>
          <p:nvPr/>
        </p:nvSpPr>
        <p:spPr>
          <a:xfrm>
            <a:off x="6349180" y="715333"/>
            <a:ext cx="5510979" cy="369332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7.What are the top reasons for transaction failures?</a:t>
            </a:r>
            <a:endParaRPr lang="en-IN" b="1" dirty="0"/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45EE3BC3-A5BB-3D96-69C3-AE451DCAFCE1}"/>
              </a:ext>
            </a:extLst>
          </p:cNvPr>
          <p:cNvSpPr/>
          <p:nvPr/>
        </p:nvSpPr>
        <p:spPr>
          <a:xfrm>
            <a:off x="6027174" y="3659778"/>
            <a:ext cx="6007509" cy="3060569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Finding</a:t>
            </a:r>
            <a:r>
              <a:rPr lang="en-IN" dirty="0">
                <a:solidFill>
                  <a:schemeClr val="tx1"/>
                </a:solidFill>
              </a:rPr>
              <a:t> :</a:t>
            </a:r>
            <a:r>
              <a:rPr lang="en-IN" b="1" dirty="0">
                <a:solidFill>
                  <a:schemeClr val="tx1"/>
                </a:solidFill>
              </a:rPr>
              <a:t>Suspected Fraud (5 cases)</a:t>
            </a:r>
            <a:r>
              <a:rPr lang="en-IN" dirty="0">
                <a:solidFill>
                  <a:schemeClr val="tx1"/>
                </a:solidFill>
              </a:rPr>
              <a:t> was the leading failure reason, followed by Technical Errors (</a:t>
            </a:r>
            <a:r>
              <a:rPr lang="en-IN" b="1" dirty="0">
                <a:solidFill>
                  <a:schemeClr val="tx1"/>
                </a:solidFill>
              </a:rPr>
              <a:t>3 cases</a:t>
            </a:r>
            <a:r>
              <a:rPr lang="en-IN" dirty="0">
                <a:solidFill>
                  <a:schemeClr val="tx1"/>
                </a:solidFill>
              </a:rPr>
              <a:t>).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Insight </a:t>
            </a:r>
            <a:r>
              <a:rPr lang="en-IN" dirty="0">
                <a:solidFill>
                  <a:schemeClr val="tx1"/>
                </a:solidFill>
              </a:rPr>
              <a:t>:Security checks and operational issues are the primary barriers to successful transactions.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solution </a:t>
            </a:r>
            <a:r>
              <a:rPr lang="en-IN" dirty="0">
                <a:solidFill>
                  <a:schemeClr val="tx1"/>
                </a:solidFill>
              </a:rPr>
              <a:t>:Improve fraud detection accuracy and optimize payment infrastructure performance.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81F9F7-FA8A-8E37-9713-C369683B0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669886"/>
              </p:ext>
            </p:extLst>
          </p:nvPr>
        </p:nvGraphicFramePr>
        <p:xfrm>
          <a:off x="668594" y="1608509"/>
          <a:ext cx="4031225" cy="9282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241772246"/>
                    </a:ext>
                  </a:extLst>
                </a:gridCol>
                <a:gridCol w="1897625">
                  <a:extLst>
                    <a:ext uri="{9D8B030D-6E8A-4147-A177-3AD203B41FA5}">
                      <a16:colId xmlns:a16="http://schemas.microsoft.com/office/drawing/2014/main" val="3792669911"/>
                    </a:ext>
                  </a:extLst>
                </a:gridCol>
              </a:tblGrid>
              <a:tr h="3094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TRANSACTION_STATUS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solidFill>
                            <a:schemeClr val="tx1"/>
                          </a:solidFill>
                          <a:effectLst/>
                        </a:rPr>
                        <a:t>TRANSACTION_RATE </a:t>
                      </a:r>
                      <a:endParaRPr lang="en-IN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539257"/>
                  </a:ext>
                </a:extLst>
              </a:tr>
              <a:tr h="3094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SUCCESS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36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098320"/>
                  </a:ext>
                </a:extLst>
              </a:tr>
              <a:tr h="3094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FAILED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14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51645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F756F4-B108-F9AE-E023-82F037D20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441446"/>
              </p:ext>
            </p:extLst>
          </p:nvPr>
        </p:nvGraphicFramePr>
        <p:xfrm>
          <a:off x="6349180" y="1490518"/>
          <a:ext cx="5510979" cy="1341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1679">
                  <a:extLst>
                    <a:ext uri="{9D8B030D-6E8A-4147-A177-3AD203B41FA5}">
                      <a16:colId xmlns:a16="http://schemas.microsoft.com/office/drawing/2014/main" val="3111411107"/>
                    </a:ext>
                  </a:extLst>
                </a:gridCol>
                <a:gridCol w="1827621">
                  <a:extLst>
                    <a:ext uri="{9D8B030D-6E8A-4147-A177-3AD203B41FA5}">
                      <a16:colId xmlns:a16="http://schemas.microsoft.com/office/drawing/2014/main" val="716429680"/>
                    </a:ext>
                  </a:extLst>
                </a:gridCol>
                <a:gridCol w="1841679">
                  <a:extLst>
                    <a:ext uri="{9D8B030D-6E8A-4147-A177-3AD203B41FA5}">
                      <a16:colId xmlns:a16="http://schemas.microsoft.com/office/drawing/2014/main" val="945058938"/>
                    </a:ext>
                  </a:extLst>
                </a:gridCol>
              </a:tblGrid>
              <a:tr h="2362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TRANSACTION_STATUS 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FAILURE_REASONS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TRANSACTION_FAILURE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7830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FAILED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SUSPECTED FRAUD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5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62449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FAILED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TECHNICAL ERROR 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3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2122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FAILED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INSUFFICIENT BALANCE 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5433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FAILED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CARD DECLINED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2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0292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FAILED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NETWORK ERROR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1" u="none" strike="noStrike" dirty="0">
                          <a:effectLst/>
                        </a:rPr>
                        <a:t>1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723166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0D7BD1-09A4-BFB1-08D7-2B285D19C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246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66A66-D39A-B780-99B3-C2FA6A372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2EF3C16-5DDE-681B-F205-226BEB570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81116"/>
            <a:ext cx="12192000" cy="70202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F2CE7D-E619-01E6-6064-8A2456C231E3}"/>
              </a:ext>
            </a:extLst>
          </p:cNvPr>
          <p:cNvSpPr txBox="1"/>
          <p:nvPr/>
        </p:nvSpPr>
        <p:spPr>
          <a:xfrm>
            <a:off x="1374058" y="164719"/>
            <a:ext cx="3591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00FFFF"/>
                </a:highlight>
              </a:rPr>
              <a:t>4</a:t>
            </a:r>
            <a:r>
              <a:rPr lang="en-IN" sz="2000" b="1" dirty="0">
                <a:highlight>
                  <a:srgbClr val="00FFFF"/>
                </a:highlight>
              </a:rPr>
              <a:t>.MERCHANT S PERFORMANCE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4081CB-B5DB-E045-3774-6FCD4528EFA8}"/>
              </a:ext>
            </a:extLst>
          </p:cNvPr>
          <p:cNvSpPr/>
          <p:nvPr/>
        </p:nvSpPr>
        <p:spPr>
          <a:xfrm>
            <a:off x="393293" y="911681"/>
            <a:ext cx="5034114" cy="546902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8.Which merchant categories generate the highest revenue?</a:t>
            </a:r>
            <a:endParaRPr lang="en-IN" b="1" dirty="0"/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1DDFFA45-CC3F-1B5C-DE88-DC147B80D966}"/>
              </a:ext>
            </a:extLst>
          </p:cNvPr>
          <p:cNvSpPr/>
          <p:nvPr/>
        </p:nvSpPr>
        <p:spPr>
          <a:xfrm>
            <a:off x="167153" y="4031226"/>
            <a:ext cx="5950970" cy="2747837"/>
          </a:xfrm>
          <a:prstGeom prst="round2DiagRect">
            <a:avLst>
              <a:gd name="adj1" fmla="val 16667"/>
              <a:gd name="adj2" fmla="val 355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Finding</a:t>
            </a:r>
            <a:r>
              <a:rPr lang="en-IN" dirty="0">
                <a:solidFill>
                  <a:schemeClr val="tx1"/>
                </a:solidFill>
              </a:rPr>
              <a:t> :</a:t>
            </a:r>
            <a:r>
              <a:rPr lang="en-IN" b="1" dirty="0">
                <a:solidFill>
                  <a:schemeClr val="tx1"/>
                </a:solidFill>
              </a:rPr>
              <a:t>Electronics generated $26,234</a:t>
            </a:r>
            <a:r>
              <a:rPr lang="en-IN" dirty="0">
                <a:solidFill>
                  <a:schemeClr val="tx1"/>
                </a:solidFill>
              </a:rPr>
              <a:t>, significantly outperforming Fashion (</a:t>
            </a:r>
            <a:r>
              <a:rPr lang="en-IN" b="1" dirty="0">
                <a:solidFill>
                  <a:schemeClr val="tx1"/>
                </a:solidFill>
              </a:rPr>
              <a:t>$5,419</a:t>
            </a:r>
            <a:r>
              <a:rPr lang="en-IN" dirty="0">
                <a:solidFill>
                  <a:schemeClr val="tx1"/>
                </a:solidFill>
              </a:rPr>
              <a:t>) and Luxury (</a:t>
            </a:r>
            <a:r>
              <a:rPr lang="en-IN" b="1" dirty="0">
                <a:solidFill>
                  <a:schemeClr val="tx1"/>
                </a:solidFill>
              </a:rPr>
              <a:t>$2,890</a:t>
            </a:r>
            <a:r>
              <a:rPr lang="en-IN" dirty="0">
                <a:solidFill>
                  <a:schemeClr val="tx1"/>
                </a:solidFill>
              </a:rPr>
              <a:t>).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Insight </a:t>
            </a:r>
            <a:r>
              <a:rPr lang="en-IN" dirty="0">
                <a:solidFill>
                  <a:schemeClr val="tx1"/>
                </a:solidFill>
              </a:rPr>
              <a:t>:Electronics merchants contribute the largest share of transaction revenue on the platform.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solution </a:t>
            </a:r>
            <a:r>
              <a:rPr lang="en-IN" dirty="0">
                <a:solidFill>
                  <a:schemeClr val="tx1"/>
                </a:solidFill>
              </a:rPr>
              <a:t>: Prioritize partnerships and promotional campaigns with high-performing electronics merchants.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9CFC68-CE7D-E276-DC13-D18605CC7EA2}"/>
              </a:ext>
            </a:extLst>
          </p:cNvPr>
          <p:cNvSpPr/>
          <p:nvPr/>
        </p:nvSpPr>
        <p:spPr>
          <a:xfrm>
            <a:off x="7064475" y="938635"/>
            <a:ext cx="4567083" cy="400109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9.Who are the highest-spending customers?</a:t>
            </a:r>
            <a:endParaRPr lang="en-IN" b="1" dirty="0"/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4D806E2C-4B5D-9AE2-8C38-35075A5108FA}"/>
              </a:ext>
            </a:extLst>
          </p:cNvPr>
          <p:cNvSpPr/>
          <p:nvPr/>
        </p:nvSpPr>
        <p:spPr>
          <a:xfrm>
            <a:off x="6285276" y="3952538"/>
            <a:ext cx="5739571" cy="2858489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Finding</a:t>
            </a:r>
            <a:r>
              <a:rPr lang="en-IN" dirty="0">
                <a:solidFill>
                  <a:schemeClr val="tx1"/>
                </a:solidFill>
              </a:rPr>
              <a:t> :Charles Scott ranked #1 with </a:t>
            </a:r>
            <a:r>
              <a:rPr lang="en-IN" b="1" dirty="0">
                <a:solidFill>
                  <a:schemeClr val="tx1"/>
                </a:solidFill>
              </a:rPr>
              <a:t>$2,600 spent</a:t>
            </a:r>
            <a:r>
              <a:rPr lang="en-IN" dirty="0">
                <a:solidFill>
                  <a:schemeClr val="tx1"/>
                </a:solidFill>
              </a:rPr>
              <a:t>, followed by Harper Robinson (</a:t>
            </a:r>
            <a:r>
              <a:rPr lang="en-IN" b="1" dirty="0">
                <a:solidFill>
                  <a:schemeClr val="tx1"/>
                </a:solidFill>
              </a:rPr>
              <a:t>$2,451</a:t>
            </a:r>
            <a:r>
              <a:rPr lang="en-IN" dirty="0">
                <a:solidFill>
                  <a:schemeClr val="tx1"/>
                </a:solidFill>
              </a:rPr>
              <a:t>) and Andrew Green (</a:t>
            </a:r>
            <a:r>
              <a:rPr lang="en-IN" b="1" dirty="0">
                <a:solidFill>
                  <a:schemeClr val="tx1"/>
                </a:solidFill>
              </a:rPr>
              <a:t>$2,345</a:t>
            </a:r>
            <a:r>
              <a:rPr lang="en-IN" dirty="0">
                <a:solidFill>
                  <a:schemeClr val="tx1"/>
                </a:solidFill>
              </a:rPr>
              <a:t>).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Insight </a:t>
            </a:r>
            <a:r>
              <a:rPr lang="en-IN" dirty="0">
                <a:solidFill>
                  <a:schemeClr val="tx1"/>
                </a:solidFill>
              </a:rPr>
              <a:t>:A small segment of customers generates the highest transaction value and revenue contribution</a:t>
            </a:r>
          </a:p>
          <a:p>
            <a:r>
              <a:rPr lang="en-IN" b="1" dirty="0">
                <a:solidFill>
                  <a:schemeClr val="tx1"/>
                </a:solidFill>
              </a:rPr>
              <a:t>Business solution </a:t>
            </a:r>
            <a:r>
              <a:rPr lang="en-IN" dirty="0">
                <a:solidFill>
                  <a:schemeClr val="tx1"/>
                </a:solidFill>
              </a:rPr>
              <a:t>:Develop premium membership and personalized offers for top-spending customers.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1A4D5A-A160-2F73-25B5-21D3CF9F0EE6}"/>
              </a:ext>
            </a:extLst>
          </p:cNvPr>
          <p:cNvSpPr txBox="1"/>
          <p:nvPr/>
        </p:nvSpPr>
        <p:spPr>
          <a:xfrm>
            <a:off x="7313968" y="132793"/>
            <a:ext cx="40680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00FFFF"/>
                </a:highlight>
              </a:rPr>
              <a:t>5.CUSTOMER VALUE ANALYTICS</a:t>
            </a:r>
            <a:endParaRPr lang="en-IN" sz="2000" b="1" dirty="0">
              <a:highlight>
                <a:srgbClr val="00FFFF"/>
              </a:highlight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07ACFC-5BC6-87CC-B229-EA5E005CB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880338"/>
              </p:ext>
            </p:extLst>
          </p:nvPr>
        </p:nvGraphicFramePr>
        <p:xfrm>
          <a:off x="785352" y="1892972"/>
          <a:ext cx="3973461" cy="124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57848">
                  <a:extLst>
                    <a:ext uri="{9D8B030D-6E8A-4147-A177-3AD203B41FA5}">
                      <a16:colId xmlns:a16="http://schemas.microsoft.com/office/drawing/2014/main" val="1822589594"/>
                    </a:ext>
                  </a:extLst>
                </a:gridCol>
                <a:gridCol w="2015613">
                  <a:extLst>
                    <a:ext uri="{9D8B030D-6E8A-4147-A177-3AD203B41FA5}">
                      <a16:colId xmlns:a16="http://schemas.microsoft.com/office/drawing/2014/main" val="1339208751"/>
                    </a:ext>
                  </a:extLst>
                </a:gridCol>
              </a:tblGrid>
              <a:tr h="3111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HIGHEST_REVENUE ($)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MERCHANT_CATEGORY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121198"/>
                  </a:ext>
                </a:extLst>
              </a:tr>
              <a:tr h="3111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26234.19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ELECTRONICS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42600"/>
                  </a:ext>
                </a:extLst>
              </a:tr>
              <a:tr h="3111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5419.34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FASHION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073490"/>
                  </a:ext>
                </a:extLst>
              </a:tr>
              <a:tr h="3111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2890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LUXURY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0619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19B1BC-55EC-864B-731C-25141A453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920010"/>
              </p:ext>
            </p:extLst>
          </p:nvPr>
        </p:nvGraphicFramePr>
        <p:xfrm>
          <a:off x="6449961" y="1828800"/>
          <a:ext cx="5420035" cy="1515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4903">
                  <a:extLst>
                    <a:ext uri="{9D8B030D-6E8A-4147-A177-3AD203B41FA5}">
                      <a16:colId xmlns:a16="http://schemas.microsoft.com/office/drawing/2014/main" val="608159629"/>
                    </a:ext>
                  </a:extLst>
                </a:gridCol>
                <a:gridCol w="1317301">
                  <a:extLst>
                    <a:ext uri="{9D8B030D-6E8A-4147-A177-3AD203B41FA5}">
                      <a16:colId xmlns:a16="http://schemas.microsoft.com/office/drawing/2014/main" val="3086060612"/>
                    </a:ext>
                  </a:extLst>
                </a:gridCol>
                <a:gridCol w="1538524">
                  <a:extLst>
                    <a:ext uri="{9D8B030D-6E8A-4147-A177-3AD203B41FA5}">
                      <a16:colId xmlns:a16="http://schemas.microsoft.com/office/drawing/2014/main" val="957919398"/>
                    </a:ext>
                  </a:extLst>
                </a:gridCol>
                <a:gridCol w="1679307">
                  <a:extLst>
                    <a:ext uri="{9D8B030D-6E8A-4147-A177-3AD203B41FA5}">
                      <a16:colId xmlns:a16="http://schemas.microsoft.com/office/drawing/2014/main" val="956727516"/>
                    </a:ext>
                  </a:extLst>
                </a:gridCol>
              </a:tblGrid>
              <a:tr h="2526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USER_ID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FIRST_NAME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TOTAL_SPENT($)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SPENDING_RANK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459117"/>
                  </a:ext>
                </a:extLst>
              </a:tr>
              <a:tr h="2526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USR 1031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CHARLES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2600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316784"/>
                  </a:ext>
                </a:extLst>
              </a:tr>
              <a:tr h="2526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USR 1041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HARPER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2450.8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2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294563"/>
                  </a:ext>
                </a:extLst>
              </a:tr>
              <a:tr h="2526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USR 1021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ANDREW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2345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3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300018"/>
                  </a:ext>
                </a:extLst>
              </a:tr>
              <a:tr h="2526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USR 1049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OLIVIA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1590.3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4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585703"/>
                  </a:ext>
                </a:extLst>
              </a:tr>
              <a:tr h="2526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USR 1029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SAMUEL 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1475.9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84439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423D75-776A-C027-3E6B-7BFCD293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41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B9E2D-7B52-0777-A666-EB476569D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4A1B0CC-22FF-1859-50B3-50C295D3C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81116"/>
            <a:ext cx="12192000" cy="70202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B58149-FD78-C66F-0725-1542DA5A422F}"/>
              </a:ext>
            </a:extLst>
          </p:cNvPr>
          <p:cNvSpPr txBox="1"/>
          <p:nvPr/>
        </p:nvSpPr>
        <p:spPr>
          <a:xfrm>
            <a:off x="4296697" y="47744"/>
            <a:ext cx="4213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highlight>
                  <a:srgbClr val="00FFFF"/>
                </a:highlight>
              </a:rPr>
              <a:t>6.REVENUE OPPORTUNITY ANALYSIS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87D57D9-39F4-6344-899A-AC02CEACB418}"/>
              </a:ext>
            </a:extLst>
          </p:cNvPr>
          <p:cNvSpPr/>
          <p:nvPr/>
        </p:nvSpPr>
        <p:spPr>
          <a:xfrm>
            <a:off x="3682180" y="576714"/>
            <a:ext cx="4827637" cy="369332"/>
          </a:xfrm>
          <a:prstGeom prst="roundRect">
            <a:avLst>
              <a:gd name="adj" fmla="val 4167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10.Which customers spend above average?</a:t>
            </a:r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18065AAF-1C85-18A6-9F3E-57B54943E313}"/>
              </a:ext>
            </a:extLst>
          </p:cNvPr>
          <p:cNvSpPr/>
          <p:nvPr/>
        </p:nvSpPr>
        <p:spPr>
          <a:xfrm>
            <a:off x="2349909" y="3116475"/>
            <a:ext cx="7993625" cy="3423154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Finding</a:t>
            </a:r>
            <a:r>
              <a:rPr lang="en-IN" dirty="0">
                <a:solidFill>
                  <a:schemeClr val="tx1"/>
                </a:solidFill>
              </a:rPr>
              <a:t> :Several customers spent more than </a:t>
            </a:r>
            <a:r>
              <a:rPr lang="en-IN" b="1" dirty="0">
                <a:solidFill>
                  <a:schemeClr val="tx1"/>
                </a:solidFill>
              </a:rPr>
              <a:t>$2,450</a:t>
            </a:r>
            <a:r>
              <a:rPr lang="en-IN" dirty="0">
                <a:solidFill>
                  <a:schemeClr val="tx1"/>
                </a:solidFill>
              </a:rPr>
              <a:t>, with Henry Roberts leading at </a:t>
            </a:r>
            <a:r>
              <a:rPr lang="en-IN" b="1" dirty="0">
                <a:solidFill>
                  <a:schemeClr val="tx1"/>
                </a:solidFill>
              </a:rPr>
              <a:t>$2,890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Insight </a:t>
            </a:r>
            <a:r>
              <a:rPr lang="en-IN" dirty="0">
                <a:solidFill>
                  <a:schemeClr val="tx1"/>
                </a:solidFill>
              </a:rPr>
              <a:t>:Above-average spenders represent the platform's most profitable customer segment.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Business solution </a:t>
            </a:r>
            <a:r>
              <a:rPr lang="en-IN" dirty="0">
                <a:solidFill>
                  <a:schemeClr val="tx1"/>
                </a:solidFill>
              </a:rPr>
              <a:t>:Target these customers with exclusive rewards, cashback programs, and retention campaigns.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EBA676-1C21-33D3-FB22-E2C4DE534C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795109"/>
              </p:ext>
            </p:extLst>
          </p:nvPr>
        </p:nvGraphicFramePr>
        <p:xfrm>
          <a:off x="3606799" y="1208228"/>
          <a:ext cx="4978400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3700">
                  <a:extLst>
                    <a:ext uri="{9D8B030D-6E8A-4147-A177-3AD203B41FA5}">
                      <a16:colId xmlns:a16="http://schemas.microsoft.com/office/drawing/2014/main" val="150870321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203069308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328752304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USER_ID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FIRST_NAME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TOTAL_SPENT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056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USR1045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HENRY 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2890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2724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USR1046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JENNNIFER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2750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306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USR1047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CHARLES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2600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6112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USR1048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MIA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2500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6449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USR1049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>
                          <a:effectLst/>
                        </a:rPr>
                        <a:t>HARPES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2450.8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1610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8B7D15-4EB6-C81C-09E0-5A8FEBD33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907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BBAF-0FC9-3F8F-56B1-11CF3685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742A47C-872E-7711-8084-E2D601037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81116"/>
            <a:ext cx="12192000" cy="7020232"/>
          </a:xfrm>
          <a:prstGeom prst="rect">
            <a:avLst/>
          </a:prstGeom>
        </p:spPr>
      </p:pic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20A6CFD1-A656-A725-1F2E-5C31AD0760D8}"/>
              </a:ext>
            </a:extLst>
          </p:cNvPr>
          <p:cNvSpPr/>
          <p:nvPr/>
        </p:nvSpPr>
        <p:spPr>
          <a:xfrm>
            <a:off x="1489586" y="1179520"/>
            <a:ext cx="9802762" cy="522128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u="sng" dirty="0"/>
              <a:t>Key Insights from the Analysis</a:t>
            </a:r>
          </a:p>
          <a:p>
            <a:endParaRPr lang="en-IN" sz="2400" b="1" u="sng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California and Texas emerged as </a:t>
            </a:r>
            <a:r>
              <a:rPr lang="en-IN" b="1" dirty="0" err="1"/>
              <a:t>SmartPay's</a:t>
            </a:r>
            <a:r>
              <a:rPr lang="en-IN" b="1" dirty="0"/>
              <a:t> strongest customer markets.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Active users maintain significantly higher wallet balances and engagement levels.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High-risk customers were identified through low credit scores and high debt exposure.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Smart Pay achieved a 72% transaction success rate, with fraud-related failures being the biggest challenge.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Electronics merchants generated the highest revenue contribution.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A small group of customers accounted for the highest wallet balances and spending activity. </a:t>
            </a:r>
          </a:p>
          <a:p>
            <a:endParaRPr lang="en-IN" b="1" dirty="0"/>
          </a:p>
          <a:p>
            <a:r>
              <a:rPr lang="en-IN" sz="2400" b="1" u="sng" dirty="0"/>
              <a:t>Business Outcome</a:t>
            </a:r>
          </a:p>
          <a:p>
            <a:endParaRPr lang="en-IN" sz="2400" b="1" u="sng" dirty="0"/>
          </a:p>
          <a:p>
            <a:r>
              <a:rPr lang="en-IN" b="1" dirty="0"/>
              <a:t>The analysis helped identify growth opportunities, improve customer targeting, strengthen risk management, enhance transaction performance, and uncover revenue-driving customer and merchant segments for </a:t>
            </a:r>
            <a:r>
              <a:rPr lang="en-IN" b="1" dirty="0" err="1"/>
              <a:t>SmartPay</a:t>
            </a:r>
            <a:r>
              <a:rPr lang="en-IN" b="1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0BF4E-A39A-84D0-65B3-0B5676801304}"/>
              </a:ext>
            </a:extLst>
          </p:cNvPr>
          <p:cNvSpPr txBox="1"/>
          <p:nvPr/>
        </p:nvSpPr>
        <p:spPr>
          <a:xfrm>
            <a:off x="4390102" y="72479"/>
            <a:ext cx="33970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>
                <a:solidFill>
                  <a:srgbClr val="002060"/>
                </a:solidFill>
              </a:rPr>
              <a:t>CONCLUSION</a:t>
            </a:r>
            <a:endParaRPr lang="en-IN" sz="4400" b="1" u="sng" dirty="0">
              <a:solidFill>
                <a:srgbClr val="00206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C8FDDF-EFE0-CE0C-240C-71F22714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789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14589E-8764-A479-7A4B-075A919577C1}"/>
              </a:ext>
            </a:extLst>
          </p:cNvPr>
          <p:cNvSpPr txBox="1"/>
          <p:nvPr/>
        </p:nvSpPr>
        <p:spPr>
          <a:xfrm>
            <a:off x="3156156" y="2228671"/>
            <a:ext cx="60861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002060"/>
                </a:solidFill>
              </a:rPr>
              <a:t>THANK YOU !</a:t>
            </a:r>
            <a:endParaRPr lang="en-IN" sz="7200" b="1" dirty="0">
              <a:solidFill>
                <a:srgbClr val="00206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5065F9-AB92-19E9-1821-64F03CE7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AFDF0-24FC-4EEF-A6D0-BC169B1059A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097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832</TotalTime>
  <Words>1333</Words>
  <Application>Microsoft Office PowerPoint</Application>
  <PresentationFormat>Widescreen</PresentationFormat>
  <Paragraphs>317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DATASET OVERVIEW: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vibha tele</dc:creator>
  <cp:lastModifiedBy>vibha tele</cp:lastModifiedBy>
  <cp:revision>11</cp:revision>
  <dcterms:created xsi:type="dcterms:W3CDTF">2026-05-30T14:16:02Z</dcterms:created>
  <dcterms:modified xsi:type="dcterms:W3CDTF">2026-06-05T07:15:00Z</dcterms:modified>
</cp:coreProperties>
</file>